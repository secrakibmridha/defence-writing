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4114800"/>
            <a:ext cx="3657600" cy="3657600"/>
          </a:xfrm>
          <a:prstGeom prst="ellipse">
            <a:avLst/>
          </a:prstGeom>
          <a:solidFill>
            <a:srgbClr val="BB86FC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D4AA"/>
                </a:solidFill>
                <a:latin typeface="Calibri Light"/>
              </a:defRPr>
            </a:pPr>
            <a:r>
              <a:t>B.Sc. Thesis Defense  •  CE 400  •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sz="3200" b="1">
                <a:solidFill>
                  <a:srgbClr val="F5F5F5"/>
                </a:solidFill>
                <a:latin typeface="Calibri Light"/>
              </a:rPr>
              <a:t>Comparative Analysis of Locally Produced Bitumen
and Imported Low-Cost Bitumen for
Bangladesh Road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C107"/>
                </a:solidFill>
                <a:latin typeface="Calibri Light"/>
              </a:defRPr>
            </a:pPr>
            <a:r>
              <a:t>Focusing on Aggregate 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343400"/>
            <a:ext cx="393192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Md Rakibul Hasan Mridha (2020333545)    •    Md Sagor Hossain Saddas (2020333553)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8909C"/>
                </a:solidFill>
                <a:latin typeface="Calibri"/>
              </a:defRPr>
            </a:pPr>
            <a:r>
              <a:t>Supervisor: Prof. Md Johir Bin Alam, Dept. of CEE, SUST</a:t>
            </a:r>
            <a:br/>
            <a:r>
              <a:t>Co-Supervisor: Mohiuddin Arif, Lecturer, Dept. of CE,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8909C"/>
                </a:solidFill>
                <a:latin typeface="Calibri"/>
              </a:defRPr>
            </a:pPr>
            <a:r>
              <a:t>Department of Civil Engineering  •  Sylhet Engineering College  •  SUST, Sylhet-3100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2588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Background &amp; Problem Statement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87452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Objectives of the Study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Methodology &amp; Experimental Design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971800"/>
            <a:ext cx="411480" cy="4114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Results — Aggregate &amp; Bitumen Properties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Results — Marshall Mix Design &amp; OBC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06908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Results — Comparative Analysis of Mixes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Proposed Roadmap for Bangladesh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16636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715000"/>
            <a:ext cx="411480" cy="4114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F5F5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BACKGROUND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286000" cy="128016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"/>
              </a:defRPr>
            </a:pPr>
            <a:r>
              <a:t>375,000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Road Network in Bangladesh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371600"/>
            <a:ext cx="2286000" cy="128016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371600"/>
            <a:ext cx="22860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FC3F7"/>
                </a:solidFill>
                <a:latin typeface="Calibri"/>
              </a:defRPr>
            </a:pPr>
            <a:r>
              <a:t>&gt;90%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Flexible Pavements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371600"/>
            <a:ext cx="2286000" cy="128016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1371600"/>
            <a:ext cx="22860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C107"/>
                </a:solidFill>
                <a:latin typeface="Calibri"/>
              </a:defRPr>
            </a:pPr>
            <a:r>
              <a:t>92–96%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Aggregate in HMA by 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2286000" cy="128016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371600"/>
            <a:ext cx="22860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6B6B"/>
                </a:solidFill>
                <a:latin typeface="Calibri"/>
              </a:defRPr>
            </a:pPr>
            <a:r>
              <a:t>Tk 6,300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ERL Bitumen Price/Unit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5303520" cy="34747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747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Imported bitumen shows inconsistent penetration grades and rheological properties [2]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Premature pavement distresses: rutting, stripping during monsoon, fatigue cracking [4]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RHD has restricted certain imported grades due to quality concerns [2]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Most research treats bitumen quality and aggregate shape as separate variables [7]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No systematic combined study under Bangladesh's subtropical monsoon conditions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926080"/>
            <a:ext cx="5760720" cy="34747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017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747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Cubical aggregate effects studied separately [3, 5]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Subgrade stabilization studied in isolation [7]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No one has examined how aggregate shape + bitumen source quality interact in Bangladesh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No systematic comparison of local ERL vs imported 60/70 binder with 20% cubical replacement</a:t>
            </a:r>
          </a:p>
          <a:p>
            <a:pPr>
              <a:lnSpc>
                <a:spcPts val="1560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This study fills that gap with side-by-side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OBJECTIVES OF THE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51560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813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5F5"/>
                </a:solidFill>
                <a:latin typeface="Calibri"/>
              </a:defRPr>
            </a:pPr>
            <a:r>
              <a:t>Compare physical properties (penetration, softening point, ductility, specific gravity, flash &amp; fire point) of local and imported 60/70 bitumen.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ii.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212848"/>
            <a:ext cx="1051560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2257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5F5"/>
                </a:solidFill>
                <a:latin typeface="Calibri"/>
              </a:defRPr>
            </a:pPr>
            <a:r>
              <a:t>Determine the Optimum Binder Content (OBC) using the Marshall method for the control mix with local bitumen.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54096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iii.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054096"/>
            <a:ext cx="1051560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6382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5F5"/>
                </a:solidFill>
                <a:latin typeface="Calibri"/>
              </a:defRPr>
            </a:pPr>
            <a:r>
              <a:t>Evaluate the effect of cubical aggregate shape (20% replacement of coarse fraction) on Marshall mix design properties.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95344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502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iv.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895344"/>
            <a:ext cx="1051560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5F5"/>
                </a:solidFill>
                <a:latin typeface="Calibri"/>
              </a:defRPr>
            </a:pPr>
            <a:r>
              <a:t>Assess the performance of four mix combinations in terms of Marshall stability, flow, and volumetric properties.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36592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914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36592"/>
            <a:ext cx="1051560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5F5"/>
                </a:solidFill>
                <a:latin typeface="Calibri"/>
              </a:defRPr>
            </a:pPr>
            <a:r>
              <a:t>Compare the four mixes in terms of required pavement thickness, cost effectiveness, and load bearing capacity.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327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vi.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577840"/>
            <a:ext cx="1051560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6875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5F5"/>
                </a:solidFill>
                <a:latin typeface="Calibri"/>
              </a:defRPr>
            </a:pPr>
            <a:r>
              <a:t>Provide practical recommendations for material selection in Bangladesh's road construction practice.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Experimental Design &amp; Testing Programme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Materials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728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Local ERL Bitumen (60/70 grade)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Imported Low-Cost Bitumen (60/70 grade)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Crushed Stone Aggregates — Sylhet Quarry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Stone Dust as Mineral Filler (passing 0.075 mm)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NMAS: 19 mm (DBM Grading-II, MoRTH Table 500-10)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Mix Design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109728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05740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E1525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Mix-1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Local + Natural Agg.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41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Control + OBC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01752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E1525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Mix-2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Imported + Natural Agg.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015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Imported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97764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E1525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Mix-3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023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Local + 20% Cubical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Shape Effect (Local)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9377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E1525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Mix-4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Imported + 20% Cubical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3218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Shape Effect (Imp.)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37160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Testing Programme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828800"/>
            <a:ext cx="10972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Marshall Stability &amp; Flow (ASTM D6927)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Volumetric Analysis (Va, VMA, VFB)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OBC from 5 trial binder contents (4.0–6.0%)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75 blows/face — Heavy traffic spec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60°C water bath, 30–40 min conditioning</a:t>
            </a:r>
          </a:p>
          <a:p>
            <a:pPr>
              <a:lnSpc>
                <a:spcPts val="1800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12 specimens total across 4 variants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AGGREGATE SHAPE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Zingg Diagram Method for Coarse Aggregates (19–12.5 mm)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5029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Zingg Classification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371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57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Elongation (dI/dL)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Flatness (dS/dI)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4937760" cy="41148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32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Blade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&lt; 2/3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328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&lt; 2/3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71800"/>
            <a:ext cx="4937760" cy="41148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35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B86FC"/>
                </a:solidFill>
                <a:latin typeface="Calibri"/>
              </a:defRPr>
            </a:pPr>
            <a:r>
              <a:t>Rod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358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&lt; 2/3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≥ 2/3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4937760" cy="41148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38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FC3F7"/>
                </a:solidFill>
                <a:latin typeface="Calibri"/>
              </a:defRPr>
            </a:pPr>
            <a:r>
              <a:t>Disc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5387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≥ 2/3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38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&lt; 2/3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4937760" cy="411480"/>
          </a:xfrm>
          <a:prstGeom prst="rect">
            <a:avLst/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Cubical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≥ 2/3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416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≥ 2/3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107"/>
                </a:solidFill>
                <a:latin typeface="Calibri"/>
              </a:defRPr>
            </a:pPr>
            <a:r>
              <a:t>Elongation Ratio = dI / dL        Flatness Ratio = dS / 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dL = longest,  dI = intermediate,  dS = shortest dimension</a:t>
            </a:r>
            <a:br/>
            <a:r>
              <a:t>Measured with Vernier calipers on retained 12.5 mm fraction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371600"/>
            <a:ext cx="5303520" cy="5029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Why Cubical Aggregates?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828800"/>
            <a:ext cx="13716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0116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Better mechanical interlock between particles [3, 4]</a:t>
            </a:r>
          </a:p>
          <a:p>
            <a:pPr>
              <a:lnSpc>
                <a:spcPts val="208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Higher internal friction → more rutting resistance [5]</a:t>
            </a:r>
          </a:p>
          <a:p>
            <a:pPr>
              <a:lnSpc>
                <a:spcPts val="208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Flaky/elongated particles break under traffic loading [4]</a:t>
            </a:r>
          </a:p>
          <a:p>
            <a:pPr>
              <a:lnSpc>
                <a:spcPts val="208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20% cubical replacement — based on Teja &amp; Krishna (2020) [3]</a:t>
            </a:r>
          </a:p>
          <a:p>
            <a:pPr>
              <a:lnSpc>
                <a:spcPts val="208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Aggregate shape affects compaction, stability, and deformation [6, 8]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54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Approach: Cubical particles hand-sorted and used as 20% replacement of coarse aggregate (Material A) by weight in Mix-3 and Mix-4.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RESULTS — AGGREGATE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Physical &amp; Mechanical Properties of Sylhet Quarry Aggregates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F1A"/>
                </a:solidFill>
                <a:latin typeface="Calibri"/>
              </a:defRPr>
            </a:pPr>
            <a:r>
              <a:t>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270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F1A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27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F1A"/>
                </a:solidFill>
                <a:latin typeface="Calibri"/>
              </a:defRPr>
            </a:pPr>
            <a:r>
              <a:t>Spec.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527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F1A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527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F1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75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F5F5"/>
                </a:solidFill>
                <a:latin typeface="Calibri"/>
              </a:defRPr>
            </a:pPr>
            <a:r>
              <a:t>Aggregate Impact Value (AIV)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75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≤ 27%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IS 2386 Part 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0756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24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F5F5"/>
                </a:solidFill>
                <a:latin typeface="Calibri"/>
              </a:defRPr>
            </a:pPr>
            <a:r>
              <a:t>Aggregate Crushing Value (ACV)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24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243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≤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24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IS 2386 Part 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624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72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F5F5"/>
                </a:solidFill>
                <a:latin typeface="Calibri"/>
              </a:defRPr>
            </a:pPr>
            <a:r>
              <a:t>Flakiness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172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≤ 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172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IS 2386 Part 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172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F5F5"/>
                </a:solidFill>
                <a:latin typeface="Calibri"/>
              </a:defRPr>
            </a:pPr>
            <a:r>
              <a:t>Elongation 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21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721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≤ 30%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721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IS 2386 Part 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721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 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70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F5F5"/>
                </a:solidFill>
                <a:latin typeface="Calibri"/>
              </a:defRPr>
            </a:pPr>
            <a:r>
              <a:t>Los Angeles Abrasion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270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270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≤ 30%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270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ASTM C131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270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 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818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F5F5"/>
                </a:solidFill>
                <a:latin typeface="Calibri"/>
              </a:defRPr>
            </a:pPr>
            <a:r>
              <a:t>Water Absorption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818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818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≤ 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818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ASTM C127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818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 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67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F5F5"/>
                </a:solidFill>
                <a:latin typeface="Calibri"/>
              </a:defRPr>
            </a:pPr>
            <a:r>
              <a:t>Specific Gravity (Coarse)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367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367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2.5–2.9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5367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ASTM C127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5367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 PASS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All aggregate properties met the specification requirements — suitable for Dense Bituminous Macadam (DBM) mix design.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RESULTS — BITUMEN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Local ERL vs Imported Low-Cost Bitumen (60/70 Grade)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1945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Penetration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64 vs 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dmm at 25°C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E676"/>
                </a:solidFill>
                <a:latin typeface="Calibri"/>
              </a:defRPr>
            </a:pPr>
            <a:r>
              <a:t>Both within 60–70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37160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371600"/>
            <a:ext cx="21945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Softening 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52 vs 41°C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Ring &amp; Ball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5252"/>
                </a:solidFill>
                <a:latin typeface="Calibri"/>
              </a:defRPr>
            </a:pPr>
            <a:r>
              <a:t>Imported FAILS spec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37160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1371600"/>
            <a:ext cx="219456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FC3F7"/>
                </a:solidFill>
                <a:latin typeface="Calibri"/>
              </a:defRPr>
            </a:pPr>
            <a:r>
              <a:t>Ductility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112 vs 91 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at 25°C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C107"/>
                </a:solidFill>
                <a:latin typeface="Calibri"/>
              </a:defRPr>
            </a:pPr>
            <a:r>
              <a:t>Imported borderline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219456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Flash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255 vs 218°C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Cleveland Open Cup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5252"/>
                </a:solidFill>
                <a:latin typeface="Calibri"/>
              </a:defRPr>
            </a:pPr>
            <a:r>
              <a:t>Imported FAILS spec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137160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371600"/>
            <a:ext cx="219456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B86FC"/>
                </a:solidFill>
                <a:latin typeface="Calibri"/>
              </a:defRPr>
            </a:pPr>
            <a:r>
              <a:t>Sp. Gravity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5F5"/>
                </a:solidFill>
                <a:latin typeface="Calibri"/>
              </a:defRPr>
            </a:pPr>
            <a:r>
              <a:t>1.023 vs 0.99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at 25°C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C107"/>
                </a:solidFill>
                <a:latin typeface="Calibri"/>
              </a:defRPr>
            </a:pPr>
            <a:r>
              <a:t>Imported below range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74720"/>
            <a:ext cx="11247120" cy="30175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Regional Comparative Assessment — South Asia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931920"/>
            <a:ext cx="18288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148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Local ERL bitumen passes ALL regional specifications — Bangladesh RHD, India MORT&amp;H, Nepal DOR, Pakistan NHA</a:t>
            </a:r>
          </a:p>
          <a:p>
            <a:pPr>
              <a:lnSpc>
                <a:spcPts val="182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Imported bitumen's softening point (41°C) falls below minimum of all South Asian authorities (47–48°C min)</a:t>
            </a:r>
          </a:p>
          <a:p>
            <a:pPr>
              <a:lnSpc>
                <a:spcPts val="182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Imported flash point (218°C) fails the 232°C safety threshold used across the region</a:t>
            </a:r>
          </a:p>
          <a:p>
            <a:pPr>
              <a:lnSpc>
                <a:spcPts val="182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Imported specific gravity (0.990) below the 1.01–1.06 range required by regional standards</a:t>
            </a:r>
          </a:p>
          <a:p>
            <a:pPr>
              <a:lnSpc>
                <a:spcPts val="182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Conclusion: Imported bitumen tested does NOT meet regional specifications for flexible pavements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RESULTS — OPTIMUM BINDER CONTENT (OBC)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Marshall Mix Design Method — Trial Asphalt Contents: 4.0%, 4.5%, 5.0%, 5.5%, 6.0%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200400" cy="22860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OPTIMUM BINDER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98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0D4AA"/>
                </a:solidFill>
                <a:latin typeface="Calibri"/>
              </a:defRPr>
            </a:pPr>
            <a:r>
              <a:t>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8909C"/>
                </a:solidFill>
                <a:latin typeface="Calibri"/>
              </a:defRPr>
            </a:pPr>
            <a:r>
              <a:t>by weight of total mix</a:t>
            </a:r>
            <a:br/>
            <a:r>
              <a:t>Used for all 4 variants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371600"/>
            <a:ext cx="7863840" cy="22860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4630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OBC Determination 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828800"/>
            <a:ext cx="13716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96596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Average of bitumen content at: (i) Maximum Marshall stability, (ii) Maximum bulk specific gravity, (iii) 4% design air voids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Stability peaked at 5.0% then dropped — classic Marshall curve behavior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Both local and imported binders yielded the same OBC of 5.0%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C107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At 5.0%: VMA, VFA, and unit weight all within RHD specification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25603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Calibri"/>
              </a:defRPr>
            </a:pPr>
            <a:r>
              <a:t>Key Volumetric Equations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89120"/>
            <a:ext cx="137160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Gmb = Wa / (Wssd – Ww)   — Bulk Specific Gravity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Va (%) = 100 × (Gmm – Gmb) / Gmm   — Air Voids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VMA (%) = 100 – (Gmb × Ps) / Gsb   — Voids in Mineral Aggregate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VFA (%) = (VMA – Va) / VMA × 100   — Voids Filled with Asphalt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RESULTS — COMPARATIVE ANALYSIS OF MIXES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All Four Variants at 5.0% OBC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743200" cy="48463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Mix-1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Local +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Marshall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1959 lbs</a:t>
            </a:r>
            <a:br/>
            <a:r>
              <a:t>(8.7 kN)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21945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F5F5"/>
                </a:solidFill>
                <a:latin typeface="Calibri"/>
              </a:defRPr>
            </a:pPr>
            <a:r>
              <a:t>10.0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Air Voids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F5F5"/>
                </a:solidFill>
                <a:latin typeface="Calibri"/>
              </a:defRPr>
            </a:pPr>
            <a:r>
              <a:t>3.27%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VFA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78.20%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Unit Wt (pcf)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149.64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1371600"/>
            <a:ext cx="2743200" cy="48463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6B6B"/>
                </a:solidFill>
                <a:latin typeface="Calibri"/>
              </a:defRPr>
            </a:pPr>
            <a:r>
              <a:t>Mix-2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Imported + 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Marshall Stability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1119 lbs</a:t>
            </a:r>
            <a:br/>
            <a:r>
              <a:t>(5.0 kN)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108960"/>
            <a:ext cx="21945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F5F5"/>
                </a:solidFill>
                <a:latin typeface="Calibri"/>
              </a:defRPr>
            </a:pPr>
            <a:r>
              <a:t>17.0 units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Air Voids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F5F5"/>
                </a:solidFill>
                <a:latin typeface="Calibri"/>
              </a:defRPr>
            </a:pPr>
            <a:r>
              <a:t>4.90%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VFA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70.78%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Unit Wt (pcf)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146.52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4663440"/>
            <a:ext cx="2194560" cy="320040"/>
          </a:xfrm>
          <a:prstGeom prst="roundRect">
            <a:avLst>
              <a:gd name="adj" fmla="val 30000"/>
            </a:avLst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681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F5F5"/>
                </a:solidFill>
                <a:latin typeface="Calibri"/>
              </a:defRPr>
            </a:pPr>
            <a:r>
              <a:t>⚠  LOWEST STABILITY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1371600"/>
            <a:ext cx="2743200" cy="48463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1371600"/>
            <a:ext cx="27432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C107"/>
                </a:solidFill>
                <a:latin typeface="Calibri"/>
              </a:defRPr>
            </a:pPr>
            <a:r>
              <a:t>Mix-3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Local + 20% Cubical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Marshall Stability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2991 lbs</a:t>
            </a:r>
            <a:br/>
            <a:r>
              <a:t>(13.3 kN)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108960"/>
            <a:ext cx="21945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F5F5"/>
                </a:solidFill>
                <a:latin typeface="Calibri"/>
              </a:defRPr>
            </a:pPr>
            <a:r>
              <a:t>8.5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Air Voids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F5F5"/>
                </a:solidFill>
                <a:latin typeface="Calibri"/>
              </a:defRPr>
            </a:pPr>
            <a:r>
              <a:t>5.20%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VFA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68.86%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Unit Wt (pcf)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146.64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4663440"/>
            <a:ext cx="2194560" cy="320040"/>
          </a:xfrm>
          <a:prstGeom prst="roundRect">
            <a:avLst>
              <a:gd name="adj" fmla="val 30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681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F1A"/>
                </a:solidFill>
                <a:latin typeface="Calibri"/>
              </a:defRPr>
            </a:pPr>
            <a:r>
              <a:t>★  BEST PERFORMER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1371600"/>
            <a:ext cx="2743200" cy="48463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52560" y="1371600"/>
            <a:ext cx="274320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B86FC"/>
                </a:solidFill>
                <a:latin typeface="Calibri"/>
              </a:defRPr>
            </a:pPr>
            <a:r>
              <a:t>Mix-4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Calibri"/>
              </a:defRPr>
            </a:pPr>
            <a:r>
              <a:t>Imported + 20% Cubical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Marshall Stability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B86FC"/>
                </a:solidFill>
                <a:latin typeface="Calibri"/>
              </a:defRPr>
            </a:pPr>
            <a:r>
              <a:t>2070 lbs</a:t>
            </a:r>
            <a:br/>
            <a:r>
              <a:t>(9.2 kN)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6880" y="3108960"/>
            <a:ext cx="21945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5256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F5F5"/>
                </a:solidFill>
                <a:latin typeface="Calibri"/>
              </a:defRPr>
            </a:pPr>
            <a:r>
              <a:t>12.0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Air Voids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5252"/>
                </a:solidFill>
                <a:latin typeface="Calibri"/>
              </a:defRPr>
            </a:pPr>
            <a:r>
              <a:t>2.59%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VFA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82.65%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3977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Unit Wt (pcf)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BEC5"/>
                </a:solidFill>
                <a:latin typeface="Calibri"/>
              </a:defRPr>
            </a:pPr>
            <a:r>
              <a:t>150.07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KEY FINDINGS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13716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"/>
              </a:defRPr>
            </a:pPr>
            <a:r>
              <a:t>167%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Stability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Mix-3 vs Mix-2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743200" cy="13716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432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C107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Deformation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Flow: 8.5 vs 17.0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188720"/>
            <a:ext cx="2743200" cy="13716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FC3F7"/>
                </a:solidFill>
                <a:latin typeface="Calibri"/>
              </a:defRPr>
            </a:pPr>
            <a:r>
              <a:t>13.3 kN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Highest Marshall 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Local + 20% Cubical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188720"/>
            <a:ext cx="2743200" cy="13716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188720"/>
            <a:ext cx="27432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6B6B"/>
                </a:solidFill>
                <a:latin typeface="Calibri"/>
              </a:defRPr>
            </a:pPr>
            <a:r>
              <a:t>2.59%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EC5"/>
                </a:solidFill>
                <a:latin typeface="Calibri"/>
              </a:defRPr>
            </a:pPr>
            <a:r>
              <a:t>Risk: Low Air Voids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Imported + Cubical (Mix-4)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26080"/>
            <a:ext cx="5486400" cy="34747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Structural Performance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383280"/>
            <a:ext cx="1371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Local ERL bitumen has lower penetration → stiffer mix → higher load capacity [8]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Cubical aggregates interlock better, creating more internal friction [3, 5]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Mix-3 combines both advantages: best binder + best aggregate shape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Higher structural layer coefficient (a₁) → thinner pavement layers needed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Less material per km of road → lower construction costs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926080"/>
            <a:ext cx="5486400" cy="347472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Volumetric Concerns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383280"/>
            <a:ext cx="13716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5204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Mix-4 (Imported + Cubical): Air voids only 2.59%, VFA 82.65%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In subtropical monsoon climate, this risks binder bleeding &amp; plastic flow [2]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Mix-3 (Local + Cubical): VMA 16.70%, Va 5.20% — balanced volumetrics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Confirms binder-aggregate interaction is not additive — depends on the combination</a:t>
            </a:r>
          </a:p>
          <a:p>
            <a:pPr>
              <a:lnSpc>
                <a:spcPts val="1679"/>
              </a:lnSpc>
              <a:spcAft>
                <a:spcPts val="719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EC5"/>
                </a:solidFill>
                <a:latin typeface="Calibri"/>
              </a:rPr>
              <a:t>Imported bitumen softening point (41°C) too low for Bangladesh temperatures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PAVEMENT THICKNESS &amp; COST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AASHTO Structural Design Implications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5029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Required Pavement Thickness Ranking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371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F5F5"/>
                </a:solidFill>
                <a:latin typeface="Calibri"/>
              </a:defRPr>
            </a:pPr>
            <a:r>
              <a:t>Mix-3: Local + Cubical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1664208" cy="274320"/>
          </a:xfrm>
          <a:prstGeom prst="roundRect">
            <a:avLst>
              <a:gd name="adj" fmla="val 3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0F1A"/>
                </a:solidFill>
                <a:latin typeface="Calibri"/>
              </a:defRPr>
            </a:pPr>
            <a:r>
              <a:t>THINNEST — Highest a₁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F5F5"/>
                </a:solidFill>
                <a:latin typeface="Calibri"/>
              </a:defRPr>
            </a:pPr>
            <a:r>
              <a:t>Mix-1: Local + 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2615184" cy="274320"/>
          </a:xfrm>
          <a:prstGeom prst="roundRect">
            <a:avLst>
              <a:gd name="adj" fmla="val 3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472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0F1A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F5F5"/>
                </a:solidFill>
                <a:latin typeface="Calibri"/>
              </a:defRPr>
            </a:pPr>
            <a:r>
              <a:t>Mix-4: Imported + Cubical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3090672" cy="274320"/>
          </a:xfrm>
          <a:prstGeom prst="roundRect">
            <a:avLst>
              <a:gd name="adj" fmla="val 30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531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0F1A"/>
                </a:solidFill>
                <a:latin typeface="Calibri"/>
              </a:defRPr>
            </a:pPr>
            <a:r>
              <a:t>Moderate-High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F5F5"/>
                </a:solidFill>
                <a:latin typeface="Calibri"/>
              </a:defRPr>
            </a:pPr>
            <a:r>
              <a:t>Mix-2: Imported + Normal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40680"/>
            <a:ext cx="4517136" cy="2743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589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0F1A"/>
                </a:solidFill>
                <a:latin typeface="Calibri"/>
              </a:defRPr>
            </a:pPr>
            <a:r>
              <a:t>THICKEST — Lowest a₁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371600"/>
            <a:ext cx="5486400" cy="5029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Cost-Effectiveness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828800"/>
            <a:ext cx="13716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Higher Marshall stability → Higher structural layer coefficient (a₁)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Higher a₁ → Same SN achieved with THINNER asphalt layer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Thinner layer = Less bituminous material per km of road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Material savings offset costs of local refining &amp; aggregate sorting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Net effect: Lower lifecycle cost over the pavement's service life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Mix-3 is the most cost-effective option for heavy-traffic pavements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PROPOSED ROADMAP FOR COST-EFFECTIVE ROAD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A Two-Level Strategy for Bangladesh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486400" cy="502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A"/>
                </a:solidFill>
                <a:latin typeface="Calibri"/>
              </a:defRPr>
            </a:pPr>
            <a:r>
              <a:t>LEVEL 1  —  Foundation (Subgrade Stabilization)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Weak subgrade soils are common across Bangladesh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Treat subgrade with lime and fly ash → raises CBR [7]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Stronger subgrade → thinner base and sub-base layers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Less aggregate material needed for foundation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Proven effective in similar tropical conditions (Sood &amp; Bansal, 2015)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548640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A"/>
                </a:solidFill>
                <a:latin typeface="Calibri"/>
              </a:defRPr>
            </a:pPr>
            <a:r>
              <a:t>LEVEL 2  —  Surface (Optimized Bituminous Mix)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Use local ERL bitumen (60/70 grade) — superior rheological properties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Add ≥20% cubical aggregates in coarse fraction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Marshall stability: 2991 lbs, Flow: 8.5 units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Higher structural layer coefficient (a₁) per AASHTO 1993</a:t>
            </a:r>
          </a:p>
          <a:p>
            <a:pPr>
              <a:lnSpc>
                <a:spcPts val="1950"/>
              </a:lnSpc>
              <a:spcAft>
                <a:spcPts val="78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▸  </a:t>
            </a:r>
            <a:r>
              <a:rPr sz="1300">
                <a:solidFill>
                  <a:srgbClr val="B0BEC5"/>
                </a:solidFill>
                <a:latin typeface="Calibri"/>
              </a:rPr>
              <a:t>Thinner pavement layers → less material per 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6172200"/>
            <a:ext cx="8503920" cy="4572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190488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Combined Effect: Stabilized foundation + Optimized surface = Same SN with thinner layers → Lower cost, higher durability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710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18872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F5F5"/>
                </a:solidFill>
                <a:latin typeface="Calibri"/>
              </a:defRPr>
            </a:pPr>
            <a:r>
              <a:t>Local ERL bitumen showed superior rheological properties — higher viscosity, consistent penetration grades, meeting all test requirements.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96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05740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48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F5F5"/>
                </a:solidFill>
                <a:latin typeface="Calibri"/>
              </a:defRPr>
            </a:pPr>
            <a:r>
              <a:t>Mix-3 (Local + 20% Cubical) achieved the highest Marshall stability of 2991 lbs (13.3 kN) with flow of 8.5 units.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08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92608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F5F5"/>
                </a:solidFill>
                <a:latin typeface="Calibri"/>
              </a:defRPr>
            </a:pPr>
            <a:r>
              <a:t>Imported bitumen + cubical aggregates (Mix-4) produced dangerously low air voids (2.59%) — risk of binder bleeding.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770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79476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886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F5F5"/>
                </a:solidFill>
                <a:latin typeface="Calibri"/>
              </a:defRPr>
            </a:pPr>
            <a:r>
              <a:t>Local ERL bitumen + cubical aggregates provides both structural strength and volumetric stability.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709160"/>
            <a:ext cx="365760" cy="36576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457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66344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754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F5F5"/>
                </a:solidFill>
                <a:latin typeface="Calibri"/>
              </a:defRPr>
            </a:pPr>
            <a:r>
              <a:t>Two-level roadmap proposed: subgrade stabilization (lime/fly ash) + optimized surface (ERL + cubical agg.).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144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53212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23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F5F5"/>
                </a:solidFill>
                <a:latin typeface="Calibri"/>
              </a:defRPr>
            </a:pPr>
            <a:r>
              <a:t>Recommendations: RHD should add quality control for imported bitumen and aggregate shape sorting to specifications.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BB86FC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00D4A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B86FC"/>
                </a:solidFill>
                <a:latin typeface="Calibri Light"/>
              </a:defRPr>
            </a:pPr>
            <a:r>
              <a:t>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22860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Expanding the Research Horizon — Next Steps for Comprehensive Pavement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86868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4864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5F5F5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3619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Indirect Tensile Strength (ITS)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8745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ASTM D6931 — Evaluate tensile loading resistance and fracture behavior of all mix combinations.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11247120" cy="86868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54864" cy="8686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5F5F5"/>
                </a:solidFill>
                <a:latin typeface="Calibri"/>
              </a:defRPr>
            </a:pPr>
            <a:r>
              <a:t>🌧️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54203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FC3F7"/>
                </a:solidFill>
                <a:latin typeface="Calibri"/>
              </a:defRPr>
            </a:pPr>
            <a:r>
              <a:t>Moisture Susceptibility &amp; Climate Resistance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80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Retained stability tests (Marshall immersion) and TSR tests under Bangladesh's monsoon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11247120" cy="86868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54864" cy="868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84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5F5F5"/>
                </a:solidFill>
                <a:latin typeface="Calibri"/>
              </a:defRPr>
            </a:pPr>
            <a:r>
              <a:t>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54787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C107"/>
                </a:solidFill>
                <a:latin typeface="Calibri"/>
              </a:defRPr>
            </a:pPr>
            <a:r>
              <a:t>Rutting &amp; Fatigue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86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Hamburg Wheel Tracking (AASHTO T 324) for rutting depth; Four-Point Bending Beam (AASHTO T 321) for fatigue life.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54864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90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5F5F5"/>
                </a:solidFill>
                <a:latin typeface="Calibri"/>
              </a:defRPr>
            </a:pPr>
            <a:r>
              <a:t>⚗️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55371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B6B"/>
                </a:solidFill>
                <a:latin typeface="Calibri"/>
              </a:defRPr>
            </a:pPr>
            <a:r>
              <a:t>Polymer Modified Bitumen (PMB)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92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Investigate 5% SBS polymer addition following LGED specs — potential for dramatic load-bearing and fatigue improvements.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96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5F5F5"/>
                </a:solidFill>
                <a:latin typeface="Calibri"/>
              </a:defRPr>
            </a:pPr>
            <a:r>
              <a:t>♻️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595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B86FC"/>
                </a:solidFill>
                <a:latin typeface="Calibri"/>
              </a:defRPr>
            </a:pPr>
            <a:r>
              <a:t>Performance Enhancement of Imported Bitumen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EC5"/>
                </a:solidFill>
                <a:latin typeface="Calibri"/>
              </a:defRPr>
            </a:pPr>
            <a:r>
              <a:t>Additives (SBS polymer, crumb rubber, waste plastics) to bring imported binder properties closer to local ERL standards.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AA"/>
                </a:solidFill>
                <a:latin typeface="Calibri Light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828800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[1]</a:t>
            </a:r>
            <a:r>
              <a:rPr sz="1100">
                <a:solidFill>
                  <a:srgbClr val="B0BEC5"/>
                </a:solidFill>
                <a:latin typeface="Calibri"/>
              </a:rPr>
              <a:t>  Werkineh, A.B. &amp; Demissie, B.A. (2020). Assessment on the Performance of Pavement Structure Due to Subsurface Course Materials. Int. J. Adv. Multidiscip. Eng. Sci., 3(1), 8–15.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[2]</a:t>
            </a:r>
            <a:r>
              <a:rPr sz="1100">
                <a:solidFill>
                  <a:srgbClr val="B0BEC5"/>
                </a:solidFill>
                <a:latin typeface="Calibri"/>
              </a:rPr>
              <a:t>  Imran, U., Khurshid, M.B. &amp; Khan, U. (2025). Developing a quality index for pavement construction and rehabilitation. Org. Tech. Mgmt. Constr., 17, 24–45.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11430000" cy="5029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[3]</a:t>
            </a:r>
            <a:r>
              <a:rPr sz="1100">
                <a:solidFill>
                  <a:srgbClr val="B0BEC5"/>
                </a:solidFill>
                <a:latin typeface="Calibri"/>
              </a:rPr>
              <a:t>  Teja, Y.P. &amp; Krishna, K.H. (2020). Effect of Coarse Aggregates Shape Factors on Rutting Characteristics of Bituminous Mixtures. IJAEM, 2(3), 454–462.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3522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[4]</a:t>
            </a:r>
            <a:r>
              <a:rPr sz="1100">
                <a:solidFill>
                  <a:srgbClr val="B0BEC5"/>
                </a:solidFill>
                <a:latin typeface="Calibri"/>
              </a:rPr>
              <a:t>  Khairandish, M.I. &amp; Chopra, A. (2020). Influence of Size and Shape of Aggregate on the Mechanical Response of Bituminous Mixes: A Review. IRJET, 7(2).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11430000" cy="5029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021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[5]</a:t>
            </a:r>
            <a:r>
              <a:rPr sz="1100">
                <a:solidFill>
                  <a:srgbClr val="B0BEC5"/>
                </a:solidFill>
                <a:latin typeface="Calibri"/>
              </a:rPr>
              <a:t>  Sumanth, S., Suhas, R. &amp; Mahendra, S.P. (2017). A Study on the Influence of Shape of Coarse Aggregates on Strength of Dense Bituminous Macadam. IJRTI, 2(9).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[6]</a:t>
            </a:r>
            <a:r>
              <a:rPr sz="1100">
                <a:solidFill>
                  <a:srgbClr val="B0BEC5"/>
                </a:solidFill>
                <a:latin typeface="Calibri"/>
              </a:rPr>
              <a:t>  Rajkumar, J.S.S., Vijayalakshmi, M.M. &amp; Lakshmi, S. (2018). Experimental Investigation on Bituminous Mixes with MoRTH and Superpave Gradation. IJCIET, 9(12), 461–471.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90288"/>
            <a:ext cx="11430000" cy="5029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[7]</a:t>
            </a:r>
            <a:r>
              <a:rPr sz="1100">
                <a:solidFill>
                  <a:srgbClr val="B0BEC5"/>
                </a:solidFill>
                <a:latin typeface="Calibri"/>
              </a:rPr>
              <a:t>  Sood, S. &amp; Bansal, S. (2015). Evaluation of Construction Materials for Soil Stabilization in Road Making Industry. IJERT, 4(5), 404–410.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0293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[8]</a:t>
            </a:r>
            <a:r>
              <a:rPr sz="1100">
                <a:solidFill>
                  <a:srgbClr val="B0BEC5"/>
                </a:solidFill>
                <a:latin typeface="Calibri"/>
              </a:rPr>
              <a:t>  Bagampadde, U., Isacsson, U. &amp; Kiggundu, B.M. (2006). Impact of bitumen and aggregate composition on stripping in bituminous mixtures. Mat. Struct., 39, 303–315.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24144"/>
            <a:ext cx="11430000" cy="5029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698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4AA"/>
                </a:solidFill>
                <a:latin typeface="Calibri"/>
              </a:rPr>
              <a:t>[9]</a:t>
            </a:r>
            <a:r>
              <a:rPr sz="1100">
                <a:solidFill>
                  <a:srgbClr val="B0BEC5"/>
                </a:solidFill>
                <a:latin typeface="Calibri"/>
              </a:rPr>
              <a:t>  Verma, P.K. &amp; Khare, A. (2024). Study on effects of aggregate size, shape, and surface texture on the properties of bituminous mixtures. IJIERM, 11(6), 235–241.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